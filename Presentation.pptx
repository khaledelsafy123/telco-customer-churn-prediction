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260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914400"/>
            <a:ext cx="118872" cy="4480560"/>
          </a:xfrm>
          <a:prstGeom prst="rect">
            <a:avLst/>
          </a:prstGeom>
          <a:solidFill>
            <a:srgbClr val="19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" y="1143000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82DAD4"/>
                </a:solidFill>
                <a:latin typeface="Aptos"/>
              </a:defRPr>
            </a:pPr>
            <a:r>
              <a:t>MACHINE LEARNING •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1828800"/>
            <a:ext cx="9875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Telco Customer</a:t>
            </a:r>
          </a:p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Churn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3703320"/>
            <a:ext cx="8961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DCE5EF"/>
                </a:solidFill>
                <a:latin typeface="Aptos"/>
              </a:defRPr>
            </a:pPr>
            <a:r>
              <a:t>Comparing five classifiers with randomized hyperparameter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5989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4C2D2"/>
                </a:solidFill>
                <a:latin typeface="Aptos"/>
              </a:defRPr>
            </a:pPr>
            <a:r>
              <a:t>Notebook-based project summary • Results from saved notebook outputs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744"/>
                </a:solidFill>
                <a:latin typeface="Aptos"/>
              </a:defRPr>
            </a:pPr>
            <a:r>
              <a:t>Problem statement and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5F6D7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Customer churn means a customer stops using the service.</a:t>
            </a:r>
          </a:p>
          <a:p>
            <a:pPr>
              <a:spcAft>
                <a:spcPts val="17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The task is a binary classification problem: predict the `Churn` label (Yes/No).</a:t>
            </a:r>
          </a:p>
          <a:p>
            <a:pPr>
              <a:spcAft>
                <a:spcPts val="17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Train and compare five models on customer, service, contract, tenure, and billing features.</a:t>
            </a:r>
          </a:p>
          <a:p>
            <a:pPr>
              <a:spcAft>
                <a:spcPts val="17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Tune model parameters, then compare held-out test Accuracy, F1 Score, and Recall.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5362956"/>
            <a:ext cx="3337560" cy="914400"/>
          </a:xfrm>
          <a:prstGeom prst="roundRect">
            <a:avLst/>
          </a:prstGeom>
          <a:solidFill>
            <a:srgbClr val="EFF4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01000" y="5362956"/>
            <a:ext cx="82296" cy="914400"/>
          </a:xfrm>
          <a:prstGeom prst="rect">
            <a:avLst/>
          </a:prstGeom>
          <a:solidFill>
            <a:srgbClr val="19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5362956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744"/>
                </a:solidFill>
                <a:latin typeface="Aptos"/>
              </a:defRPr>
            </a:pPr>
            <a:r>
              <a:rPr dirty="0"/>
              <a:t>Project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733288"/>
            <a:ext cx="29260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rPr dirty="0"/>
              <a:t>Compare models using reproducible splits and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744"/>
                </a:solidFill>
                <a:latin typeface="Aptos"/>
              </a:defRPr>
            </a:pPr>
            <a: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5F6D7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468880" cy="1325880"/>
          </a:xfrm>
          <a:prstGeom prst="roundRect">
            <a:avLst/>
          </a:prstGeom>
          <a:solidFill>
            <a:srgbClr val="EFF4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82296" cy="1325880"/>
          </a:xfrm>
          <a:prstGeom prst="rect">
            <a:avLst/>
          </a:prstGeom>
          <a:solidFill>
            <a:srgbClr val="19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81912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744"/>
                </a:solidFill>
                <a:latin typeface="Aptos"/>
              </a:defRPr>
            </a:pPr>
            <a:r>
              <a:t>7,043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75688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t>Customer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17320"/>
            <a:ext cx="2468880" cy="1325880"/>
          </a:xfrm>
          <a:prstGeom prst="roundRect">
            <a:avLst/>
          </a:prstGeom>
          <a:solidFill>
            <a:srgbClr val="EFF4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29000" y="1417320"/>
            <a:ext cx="82296" cy="1325880"/>
          </a:xfrm>
          <a:prstGeom prst="rect">
            <a:avLst/>
          </a:prstGeom>
          <a:solidFill>
            <a:srgbClr val="2B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1581912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744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75688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t>Original columns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417320"/>
            <a:ext cx="2468880" cy="1325880"/>
          </a:xfrm>
          <a:prstGeom prst="roundRect">
            <a:avLst/>
          </a:prstGeom>
          <a:solidFill>
            <a:srgbClr val="EFF4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1417320"/>
            <a:ext cx="82296" cy="1325880"/>
          </a:xfrm>
          <a:prstGeom prst="rect">
            <a:avLst/>
          </a:prstGeom>
          <a:solidFill>
            <a:srgbClr val="EF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581912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744"/>
                </a:solidFill>
                <a:latin typeface="Aptos"/>
              </a:defRPr>
            </a:pPr>
            <a:r>
              <a:t>Yes / 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075688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t>Target: Churn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417320"/>
            <a:ext cx="2468880" cy="1325880"/>
          </a:xfrm>
          <a:prstGeom prst="roundRect">
            <a:avLst/>
          </a:prstGeom>
          <a:solidFill>
            <a:srgbClr val="EFF4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823960" y="1417320"/>
            <a:ext cx="82296" cy="1325880"/>
          </a:xfrm>
          <a:prstGeom prst="rect">
            <a:avLst/>
          </a:prstGeom>
          <a:solidFill>
            <a:srgbClr val="19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52560" y="1581912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744"/>
                </a:solidFill>
                <a:latin typeface="Aptos"/>
              </a:defRPr>
            </a:pPr>
            <a:r>
              <a:t>Kaggle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075688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t>Telco Customer Churn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24612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Source: blastchar/telco-customer-churn on Kaggle.</a:t>
            </a:r>
          </a:p>
          <a:p>
            <a:pPr>
              <a:spcAft>
                <a:spcPts val="17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Feature groups include demographics, subscribed services, contract and payment details, tenure, and charges.</a:t>
            </a:r>
          </a:p>
          <a:p>
            <a:pPr>
              <a:spcAft>
                <a:spcPts val="17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The notebook removes `customerID` before modeling.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744"/>
                </a:solidFill>
                <a:latin typeface="Aptos"/>
              </a:defRPr>
            </a:pPr>
            <a:r>
              <a:t>Data cleaning and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5F6D7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Removed `customerID` because it is an identifier.</a:t>
            </a:r>
          </a:p>
          <a:p>
            <a:pPr>
              <a:spcAft>
                <a:spcPts val="17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Stripped whitespace from `TotalCharges`, replaced empty strings with 0, and converted the column to numeric.</a:t>
            </a:r>
          </a:p>
          <a:p>
            <a:pPr>
              <a:spcAft>
                <a:spcPts val="17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Split data into 80% train and 20% test, using `random_state=42` and stratifying by `Churn`.</a:t>
            </a:r>
          </a:p>
          <a:p>
            <a:pPr>
              <a:spcAft>
                <a:spcPts val="17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Encoded the target labels with `LabelEncoder`.</a:t>
            </a:r>
          </a:p>
          <a:p>
            <a:pPr>
              <a:spcAft>
                <a:spcPts val="17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Final split: 5,634 training rows and 1,409 test rows.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744"/>
                </a:solidFill>
                <a:latin typeface="Aptos"/>
              </a:defRPr>
            </a:pPr>
            <a:r>
              <a:t>Feature encoding and 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5F6D7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5074920" cy="1828800"/>
          </a:xfrm>
          <a:prstGeom prst="roundRect">
            <a:avLst/>
          </a:prstGeom>
          <a:solidFill>
            <a:srgbClr val="EFF4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508760"/>
            <a:ext cx="82296" cy="1828800"/>
          </a:xfrm>
          <a:prstGeom prst="rect">
            <a:avLst/>
          </a:prstGeom>
          <a:solidFill>
            <a:srgbClr val="19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73351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744"/>
                </a:solidFill>
                <a:latin typeface="Aptos"/>
              </a:defRPr>
            </a:pPr>
            <a:r>
              <a:t>Categorical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67128"/>
            <a:ext cx="4663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t>OneHotEncoder(handle_unknown='ignore', sparse_output=False)</a:t>
            </a:r>
          </a:p>
          <a:p>
            <a:pPr>
              <a:spcAft>
                <a:spcPts val="8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t>Fit on training data; transform test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074920" cy="1828800"/>
          </a:xfrm>
          <a:prstGeom prst="roundRect">
            <a:avLst/>
          </a:prstGeom>
          <a:solidFill>
            <a:srgbClr val="EFF4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508760"/>
            <a:ext cx="82296" cy="1828800"/>
          </a:xfrm>
          <a:prstGeom prst="rect">
            <a:avLst/>
          </a:prstGeom>
          <a:solidFill>
            <a:srgbClr val="2B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673351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744"/>
                </a:solidFill>
                <a:latin typeface="Aptos"/>
              </a:defRPr>
            </a:pPr>
            <a:r>
              <a:t>Numerical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67128"/>
            <a:ext cx="4663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t>StandardScaler</a:t>
            </a:r>
          </a:p>
          <a:p>
            <a:pPr>
              <a:spcAft>
                <a:spcPts val="8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t>Fit on training data; transform test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77639"/>
            <a:ext cx="10149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Numerical columns scaled: SeniorCitizen, tenure, MonthlyCharges, TotalCharges.</a:t>
            </a:r>
          </a:p>
          <a:p>
            <a:pPr>
              <a:spcAft>
                <a:spcPts val="17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The resulting train and test matrices each contain 45 features.</a:t>
            </a:r>
          </a:p>
          <a:p>
            <a:pPr>
              <a:spcAft>
                <a:spcPts val="17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The encoder and scaler are fit on training data 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744"/>
                </a:solidFill>
                <a:latin typeface="Aptos"/>
              </a:defRPr>
            </a:pPr>
            <a:r>
              <a:t>Classification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5F6D7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63040"/>
            <a:ext cx="3383280" cy="1417320"/>
          </a:xfrm>
          <a:prstGeom prst="roundRect">
            <a:avLst/>
          </a:prstGeom>
          <a:solidFill>
            <a:srgbClr val="EFF4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82296" cy="1417320"/>
          </a:xfrm>
          <a:prstGeom prst="rect">
            <a:avLst/>
          </a:prstGeom>
          <a:solidFill>
            <a:srgbClr val="19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2763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744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21408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t>Linear baseline classifier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463040"/>
            <a:ext cx="3383280" cy="1417320"/>
          </a:xfrm>
          <a:prstGeom prst="roundRect">
            <a:avLst/>
          </a:prstGeom>
          <a:solidFill>
            <a:srgbClr val="EFF4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0" y="1463040"/>
            <a:ext cx="82296" cy="1417320"/>
          </a:xfrm>
          <a:prstGeom prst="rect">
            <a:avLst/>
          </a:prstGeom>
          <a:solidFill>
            <a:srgbClr val="2B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600" y="162763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744"/>
                </a:solidFill>
                <a:latin typeface="Aptos"/>
              </a:defRPr>
            </a:pPr>
            <a:r>
              <a:t>KNN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121408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t>Nearest-neighbor classification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463040"/>
            <a:ext cx="3383280" cy="1417320"/>
          </a:xfrm>
          <a:prstGeom prst="roundRect">
            <a:avLst/>
          </a:prstGeom>
          <a:solidFill>
            <a:srgbClr val="EFF4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66760" y="1463040"/>
            <a:ext cx="82296" cy="1417320"/>
          </a:xfrm>
          <a:prstGeom prst="rect">
            <a:avLst/>
          </a:prstGeom>
          <a:solidFill>
            <a:srgbClr val="EF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0" y="162763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744"/>
                </a:solidFill>
                <a:latin typeface="Aptos"/>
              </a:defRPr>
            </a:pPr>
            <a:r>
              <a:t>Linear SVM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121408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t>Linear decision boundary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20440"/>
            <a:ext cx="3383280" cy="1417320"/>
          </a:xfrm>
          <a:prstGeom prst="roundRect">
            <a:avLst/>
          </a:prstGeom>
          <a:solidFill>
            <a:srgbClr val="EFF4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520440"/>
            <a:ext cx="82296" cy="1417320"/>
          </a:xfrm>
          <a:prstGeom prst="rect">
            <a:avLst/>
          </a:prstGeom>
          <a:solidFill>
            <a:srgbClr val="19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68503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744"/>
                </a:solidFill>
                <a:latin typeface="Aptos"/>
              </a:defRPr>
            </a:pPr>
            <a:r>
              <a:t>RBF SVM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178808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t>Nonlinear radial-basis kernel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520440"/>
            <a:ext cx="3383280" cy="1417320"/>
          </a:xfrm>
          <a:prstGeom prst="roundRect">
            <a:avLst/>
          </a:prstGeom>
          <a:solidFill>
            <a:srgbClr val="EFF4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0" y="3520440"/>
            <a:ext cx="82296" cy="1417320"/>
          </a:xfrm>
          <a:prstGeom prst="rect">
            <a:avLst/>
          </a:prstGeom>
          <a:solidFill>
            <a:srgbClr val="2B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00600" y="368503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744"/>
                </a:solidFill>
                <a:latin typeface="Aptos"/>
              </a:defRPr>
            </a:pPr>
            <a:r>
              <a:t>Polynomial SVM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4178808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t>Polynomial kernel, degree =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89788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F6D7D"/>
                </a:solidFill>
                <a:latin typeface="Aptos"/>
              </a:defRPr>
            </a:pPr>
            <a:r>
              <a:t>Each model was tuned and evaluated using the same train/test split.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744"/>
                </a:solidFill>
                <a:latin typeface="Aptos"/>
              </a:defRPr>
            </a:pPr>
            <a:r>
              <a:t>Hyperparameter 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5F6D7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Method: `RandomizedSearchCV`.</a:t>
            </a:r>
          </a:p>
          <a:p>
            <a:pPr>
              <a:spcAft>
                <a:spcPts val="17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10 sampled parameter combinations per model; 3-fold cross-validation.</a:t>
            </a:r>
          </a:p>
          <a:p>
            <a:pPr>
              <a:spcAft>
                <a:spcPts val="17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Optimization metric: accuracy (`scoring='accuracy'`).</a:t>
            </a:r>
          </a:p>
          <a:p>
            <a:pPr>
              <a:spcAft>
                <a:spcPts val="17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Fixed `random_state=42`; parallel execution with `n_jobs=-1`.</a:t>
            </a:r>
          </a:p>
          <a:p>
            <a:pPr>
              <a:spcAft>
                <a:spcPts val="17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The final model is selected by the highest mean cross-validation accuracy.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5074920"/>
            <a:ext cx="3566160" cy="914400"/>
          </a:xfrm>
          <a:prstGeom prst="roundRect">
            <a:avLst/>
          </a:prstGeom>
          <a:solidFill>
            <a:srgbClr val="EFF4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26679" y="5074920"/>
            <a:ext cx="82296" cy="914400"/>
          </a:xfrm>
          <a:prstGeom prst="rect">
            <a:avLst/>
          </a:prstGeom>
          <a:solidFill>
            <a:srgbClr val="EF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79" y="5239512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744"/>
                </a:solidFill>
                <a:latin typeface="Aptos"/>
              </a:defRPr>
            </a:pPr>
            <a:r>
              <a:t>Selection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5733288"/>
            <a:ext cx="31546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t>Highest CV accuracy—not highest score on every test metric.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744"/>
                </a:solidFill>
                <a:latin typeface="Aptos"/>
              </a:defRPr>
            </a:pPr>
            <a:r>
              <a:t>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5F6D7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3383280" cy="1920240"/>
          </a:xfrm>
          <a:prstGeom prst="roundRect">
            <a:avLst/>
          </a:prstGeom>
          <a:solidFill>
            <a:srgbClr val="EFF4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82296" cy="1920240"/>
          </a:xfrm>
          <a:prstGeom prst="rect">
            <a:avLst/>
          </a:prstGeom>
          <a:solidFill>
            <a:srgbClr val="19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6479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744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58568"/>
            <a:ext cx="2971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t>Share of all predictions that are correct.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00200"/>
            <a:ext cx="3383280" cy="1920240"/>
          </a:xfrm>
          <a:prstGeom prst="roundRect">
            <a:avLst/>
          </a:prstGeom>
          <a:solidFill>
            <a:srgbClr val="EFF4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600200"/>
            <a:ext cx="82296" cy="1920240"/>
          </a:xfrm>
          <a:prstGeom prst="rect">
            <a:avLst/>
          </a:prstGeom>
          <a:solidFill>
            <a:srgbClr val="2B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76479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744"/>
                </a:solidFill>
                <a:latin typeface="Aptos"/>
              </a:defRPr>
            </a:pPr>
            <a:r>
              <a:t>F1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258568"/>
            <a:ext cx="2971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t>Balances precision and recall.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600200"/>
            <a:ext cx="3383280" cy="1920240"/>
          </a:xfrm>
          <a:prstGeom prst="roundRect">
            <a:avLst/>
          </a:prstGeom>
          <a:solidFill>
            <a:srgbClr val="EFF4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600200"/>
            <a:ext cx="82296" cy="1920240"/>
          </a:xfrm>
          <a:prstGeom prst="rect">
            <a:avLst/>
          </a:prstGeom>
          <a:solidFill>
            <a:srgbClr val="EF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76479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744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58568"/>
            <a:ext cx="2971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t>Share of actual churn cases identified.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6052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A3441"/>
                </a:solidFill>
                <a:latin typeface="Aptos"/>
              </a:defRPr>
            </a:pPr>
            <a:r>
              <a:t>All comparison values below are measured on the held-out test set, except Best CV Accuracy, which is the mean score across 3 validation folds.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744"/>
                </a:solidFill>
                <a:latin typeface="Aptos"/>
              </a:defRPr>
            </a:pPr>
            <a:r>
              <a:t>Results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5F6D7D"/>
                </a:solidFill>
                <a:latin typeface="Aptos"/>
              </a:defRPr>
            </a:pPr>
            <a:r>
              <a:t>09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083563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4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34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82296" marR="54864" marT="64008" anchor="ctr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Best CV</a:t>
                      </a:r>
                    </a:p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Accuracy</a:t>
                      </a:r>
                    </a:p>
                  </a:txBody>
                  <a:tcPr marL="82296" marR="54864" marT="64008" anchor="ctr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Test</a:t>
                      </a:r>
                    </a:p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Accuracy</a:t>
                      </a:r>
                    </a:p>
                  </a:txBody>
                  <a:tcPr marL="82296" marR="54864" marT="64008" anchor="ctr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Test F1</a:t>
                      </a:r>
                    </a:p>
                  </a:txBody>
                  <a:tcPr marL="82296" marR="54864" marT="64008" anchor="ctr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Test Recall</a:t>
                      </a:r>
                    </a:p>
                  </a:txBody>
                  <a:tcPr marL="82296" marR="54864" marT="64008" anchor="ctr">
                    <a:solidFill>
                      <a:srgbClr val="16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Logistic Regression</a:t>
                      </a:r>
                    </a:p>
                  </a:txBody>
                  <a:tcPr marL="82296" marR="54864" marT="6400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80.55%</a:t>
                      </a:r>
                    </a:p>
                  </a:txBody>
                  <a:tcPr marL="82296" marR="54864" marT="6400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79.91%</a:t>
                      </a:r>
                    </a:p>
                  </a:txBody>
                  <a:tcPr marL="82296" marR="54864" marT="6400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56.93%</a:t>
                      </a:r>
                    </a:p>
                  </a:txBody>
                  <a:tcPr marL="82296" marR="54864" marT="6400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50.00%</a:t>
                      </a:r>
                    </a:p>
                  </a:txBody>
                  <a:tcPr marL="82296" marR="54864" marT="64008" anchor="ctr">
                    <a:solidFill>
                      <a:srgbClr val="EF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KNN</a:t>
                      </a:r>
                    </a:p>
                  </a:txBody>
                  <a:tcPr marL="82296" marR="54864" marT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78.70%</a:t>
                      </a:r>
                    </a:p>
                  </a:txBody>
                  <a:tcPr marL="82296" marR="54864" marT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77.22%</a:t>
                      </a:r>
                    </a:p>
                  </a:txBody>
                  <a:tcPr marL="82296" marR="54864" marT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56.33%</a:t>
                      </a:r>
                    </a:p>
                  </a:txBody>
                  <a:tcPr marL="82296" marR="54864" marT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55.35%</a:t>
                      </a:r>
                    </a:p>
                  </a:txBody>
                  <a:tcPr marL="82296" marR="54864" marT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Linear SVM</a:t>
                      </a:r>
                    </a:p>
                  </a:txBody>
                  <a:tcPr marL="82296" marR="54864" marT="6400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80.56%</a:t>
                      </a:r>
                    </a:p>
                  </a:txBody>
                  <a:tcPr marL="82296" marR="54864" marT="6400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80.13%</a:t>
                      </a:r>
                    </a:p>
                  </a:txBody>
                  <a:tcPr marL="82296" marR="54864" marT="6400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59.18%</a:t>
                      </a:r>
                    </a:p>
                  </a:txBody>
                  <a:tcPr marL="82296" marR="54864" marT="6400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54.28%</a:t>
                      </a:r>
                    </a:p>
                  </a:txBody>
                  <a:tcPr marL="82296" marR="54864" marT="64008" anchor="ctr">
                    <a:solidFill>
                      <a:srgbClr val="EF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RBF SVM</a:t>
                      </a:r>
                    </a:p>
                  </a:txBody>
                  <a:tcPr marL="82296" marR="54864" marT="64008" anchor="ctr">
                    <a:solidFill>
                      <a:srgbClr val="E4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80.76%</a:t>
                      </a:r>
                    </a:p>
                  </a:txBody>
                  <a:tcPr marL="82296" marR="54864" marT="64008" anchor="ctr">
                    <a:solidFill>
                      <a:srgbClr val="E4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79.42%</a:t>
                      </a:r>
                    </a:p>
                  </a:txBody>
                  <a:tcPr marL="82296" marR="54864" marT="64008" anchor="ctr">
                    <a:solidFill>
                      <a:srgbClr val="E4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55.38%</a:t>
                      </a:r>
                    </a:p>
                  </a:txBody>
                  <a:tcPr marL="82296" marR="54864" marT="64008" anchor="ctr">
                    <a:solidFill>
                      <a:srgbClr val="E4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48.13%</a:t>
                      </a:r>
                    </a:p>
                  </a:txBody>
                  <a:tcPr marL="82296" marR="54864" marT="64008" anchor="ctr">
                    <a:solidFill>
                      <a:srgbClr val="E4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Polynomial SVM (d=2)</a:t>
                      </a:r>
                    </a:p>
                  </a:txBody>
                  <a:tcPr marL="82296" marR="54864" marT="6400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80.65%</a:t>
                      </a:r>
                    </a:p>
                  </a:txBody>
                  <a:tcPr marL="82296" marR="54864" marT="6400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79.42%</a:t>
                      </a:r>
                    </a:p>
                  </a:txBody>
                  <a:tcPr marL="82296" marR="54864" marT="6400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56.19%</a:t>
                      </a:r>
                    </a:p>
                  </a:txBody>
                  <a:tcPr marL="82296" marR="54864" marT="6400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49.73%</a:t>
                      </a:r>
                    </a:p>
                  </a:txBody>
                  <a:tcPr marL="82296" marR="54864" marT="64008" anchor="ctr">
                    <a:solidFill>
                      <a:srgbClr val="EF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5F6D7D"/>
                </a:solidFill>
                <a:latin typeface="Aptos"/>
              </a:defRPr>
            </a:pPr>
            <a:r>
              <a:t>RBF SVM leads in cross-validation accuracy; Linear SVM leads in test accuracy and F1; KNN leads in test recall.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82DAD4"/>
                </a:solidFill>
                <a:latin typeface="Aptos"/>
              </a:defRPr>
            </a:pPr>
            <a:r>
              <a:t>FINAL MODEL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RBF SVM selected by cross-validation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48840"/>
            <a:ext cx="3337560" cy="1371600"/>
          </a:xfrm>
          <a:prstGeom prst="roundRect">
            <a:avLst/>
          </a:prstGeom>
          <a:solidFill>
            <a:srgbClr val="EFF4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2148840"/>
            <a:ext cx="82296" cy="1371600"/>
          </a:xfrm>
          <a:prstGeom prst="rect">
            <a:avLst/>
          </a:prstGeom>
          <a:solidFill>
            <a:srgbClr val="19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313432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744"/>
                </a:solidFill>
                <a:latin typeface="Aptos"/>
              </a:defRPr>
            </a:pPr>
            <a:r>
              <a:t>80.76%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07208"/>
            <a:ext cx="2926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t>Best 3-fold CV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148840"/>
            <a:ext cx="3337560" cy="1371600"/>
          </a:xfrm>
          <a:prstGeom prst="roundRect">
            <a:avLst/>
          </a:prstGeom>
          <a:solidFill>
            <a:srgbClr val="EFF4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2148840"/>
            <a:ext cx="82296" cy="1371600"/>
          </a:xfrm>
          <a:prstGeom prst="rect">
            <a:avLst/>
          </a:prstGeom>
          <a:solidFill>
            <a:srgbClr val="2B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2313432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744"/>
                </a:solidFill>
                <a:latin typeface="Aptos"/>
              </a:defRPr>
            </a:pPr>
            <a:r>
              <a:t>79.42%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807208"/>
            <a:ext cx="2926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t>Held-out test accuracy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148840"/>
            <a:ext cx="3337560" cy="1371600"/>
          </a:xfrm>
          <a:prstGeom prst="roundRect">
            <a:avLst/>
          </a:prstGeom>
          <a:solidFill>
            <a:srgbClr val="EFF4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8160" y="2148840"/>
            <a:ext cx="82296" cy="1371600"/>
          </a:xfrm>
          <a:prstGeom prst="rect">
            <a:avLst/>
          </a:prstGeom>
          <a:solidFill>
            <a:srgbClr val="EF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2313432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744"/>
                </a:solidFill>
                <a:latin typeface="Aptos"/>
              </a:defRPr>
            </a:pPr>
            <a:r>
              <a:t>C = 10 • gamma = 0.01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07208"/>
            <a:ext cx="2926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t>Best RBF SVM parameters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60520"/>
            <a:ext cx="10424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Important comparison: Linear SVM achieved the highest test accuracy (80.13%) and F1 Score (59.18%). KNN achieved the highest test recall (55.35%). RBF SVM is the notebook's selected model because it ranked first by cross-validation accuracy—not because it led every test metric.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619</Words>
  <Application>Microsoft Office PowerPoint</Application>
  <PresentationFormat>Widescreen</PresentationFormat>
  <Paragraphs>119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Khaled Elsafy</cp:lastModifiedBy>
  <cp:revision>3</cp:revision>
  <dcterms:created xsi:type="dcterms:W3CDTF">2013-01-27T09:14:16Z</dcterms:created>
  <dcterms:modified xsi:type="dcterms:W3CDTF">2026-10-20T15:48:17Z</dcterms:modified>
  <cp:category/>
</cp:coreProperties>
</file>